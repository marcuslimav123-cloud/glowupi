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23" y="359048"/>
            <a:ext cx="733425" cy="73342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03119" y="462111"/>
            <a:ext cx="25098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 DE SOCIEDADE · 2026</a:t>
            </a:r>
            <a:endParaRPr lang="en-US" sz="700" dirty="0"/>
          </a:p>
        </p:txBody>
      </p:sp>
      <p:sp>
        <p:nvSpPr>
          <p:cNvPr id="7" name="Text 1"/>
          <p:cNvSpPr/>
          <p:nvPr/>
        </p:nvSpPr>
        <p:spPr>
          <a:xfrm>
            <a:off x="730523" y="1609018"/>
            <a:ext cx="62198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APRESENTAÇÃO CONFIDENCIAL AO INVESTIDOR</a:t>
            </a:r>
            <a:endParaRPr lang="en-US" sz="900" dirty="0"/>
          </a:p>
        </p:txBody>
      </p:sp>
      <p:sp>
        <p:nvSpPr>
          <p:cNvPr id="8" name="Text 2"/>
          <p:cNvSpPr/>
          <p:nvPr/>
        </p:nvSpPr>
        <p:spPr>
          <a:xfrm>
            <a:off x="730523" y="1940198"/>
            <a:ext cx="6219825" cy="10429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43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beleza não cabe mais</a:t>
            </a:r>
            <a:pPr algn="l" indent="0" marL="0">
              <a:lnSpc>
                <a:spcPts val="4104"/>
              </a:lnSpc>
              <a:buNone/>
            </a:pPr>
            <a:r>
              <a:rPr lang="en-US" sz="43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no caderno.</a:t>
            </a:r>
            <a:endParaRPr lang="en-US" sz="4300" dirty="0"/>
          </a:p>
        </p:txBody>
      </p:sp>
      <p:sp>
        <p:nvSpPr>
          <p:cNvPr id="9" name="Text 3"/>
          <p:cNvSpPr/>
          <p:nvPr/>
        </p:nvSpPr>
        <p:spPr>
          <a:xfrm>
            <a:off x="730523" y="3164012"/>
            <a:ext cx="53054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spcBef>
                <a:spcPts val="1418"/>
              </a:spcBef>
              <a:buNone/>
            </a:pPr>
            <a:r>
              <a:rPr lang="en-US" sz="11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Convite formal para aquisição de 50% de participação societária na Glow Upi — plataforma SaaS dedicada ao mercado de estética em Teresina e Timon.</a:t>
            </a:r>
            <a:endParaRPr lang="en-US" sz="1100" dirty="0"/>
          </a:p>
        </p:txBody>
      </p:sp>
      <p:sp>
        <p:nvSpPr>
          <p:cNvPr id="10" name="Shape 4"/>
          <p:cNvSpPr/>
          <p:nvPr/>
        </p:nvSpPr>
        <p:spPr>
          <a:xfrm>
            <a:off x="731044" y="4082542"/>
            <a:ext cx="7681912" cy="700088"/>
          </a:xfrm>
          <a:prstGeom prst="rect">
            <a:avLst/>
          </a:prstGeom>
          <a:ln/>
        </p:spPr>
      </p:sp>
      <p:sp>
        <p:nvSpPr>
          <p:cNvPr id="11" name="Text 5"/>
          <p:cNvSpPr/>
          <p:nvPr/>
        </p:nvSpPr>
        <p:spPr>
          <a:xfrm>
            <a:off x="731751" y="4303105"/>
            <a:ext cx="220503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24"/>
              </a:spcAft>
              <a:buNone/>
            </a:pPr>
            <a:r>
              <a:rPr lang="en-US" sz="700" dirty="0">
                <a:solidFill>
                  <a:srgbClr val="EEE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APORTE SOLICITADO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731751" y="4482629"/>
            <a:ext cx="2205037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R$ 19.700 </a:t>
            </a:r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EE9D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·</a:t>
            </a:r>
            <a:pPr algn="l" indent="0" marL="0">
              <a:lnSpc>
                <a:spcPts val="2376"/>
              </a:lnSpc>
              <a:buNone/>
            </a:pPr>
            <a:r>
              <a:rPr lang="en-US" sz="15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</a:t>
            </a:r>
            <a:pPr algn="l" indent="0" marL="0">
              <a:lnSpc>
                <a:spcPts val="2376"/>
              </a:lnSpc>
              <a:buNone/>
            </a:pPr>
            <a:r>
              <a:rPr lang="en-US" sz="15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50% de equity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160331" y="4240225"/>
            <a:ext cx="22526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spcAft>
                <a:spcPts val="324"/>
              </a:spcAft>
              <a:buNone/>
            </a:pPr>
            <a:r>
              <a:rPr lang="en-US" sz="700" dirty="0">
                <a:solidFill>
                  <a:srgbClr val="EEE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APRESENTADO POR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6160331" y="4419860"/>
            <a:ext cx="225266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100" i="1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Fundador &amp; Diretor de Tecnologia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60331" y="4631829"/>
            <a:ext cx="22526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MARCUS VINÍCIUS LIMA SILVA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044" y="4082542"/>
            <a:ext cx="7681912" cy="700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63"/>
          </a:xfrm>
          <a:prstGeom prst="rect">
            <a:avLst/>
          </a:prstGeom>
          <a:solidFill>
            <a:srgbClr val="C3A56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03183" y="25669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5" name="Text 3"/>
          <p:cNvSpPr/>
          <p:nvPr/>
        </p:nvSpPr>
        <p:spPr>
          <a:xfrm>
            <a:off x="8132825" y="256691"/>
            <a:ext cx="4619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7688" y="309153"/>
            <a:ext cx="80486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DOR TRADUZIDA EM REAIS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7613" y="554385"/>
            <a:ext cx="7134225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salão médio deixa entre </a:t>
            </a:r>
            <a:pPr algn="l" indent="0" marL="0">
              <a:lnSpc>
                <a:spcPts val="2448"/>
              </a:lnSpc>
              <a:buNone/>
            </a:pPr>
            <a:r>
              <a:rPr lang="en-US" sz="24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R$ 1.800 e R$ 3.000</a:t>
            </a:r>
            <a:pPr algn="l" indent="0" marL="0">
              <a:lnSpc>
                <a:spcPts val="2448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na mesa todo mês.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7650" y="1433847"/>
            <a:ext cx="4600575" cy="361473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Text 7"/>
          <p:cNvSpPr/>
          <p:nvPr/>
        </p:nvSpPr>
        <p:spPr>
          <a:xfrm>
            <a:off x="785775" y="1641165"/>
            <a:ext cx="412432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spcAft>
                <a:spcPts val="1215"/>
              </a:spcAft>
              <a:buNone/>
            </a:pPr>
            <a:r>
              <a:rPr lang="en-US" sz="5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O CÁLCULO É CONSTRUÍDO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785775" y="1901317"/>
            <a:ext cx="4124325" cy="438150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787189" y="1901726"/>
            <a:ext cx="1809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6640" y="1954634"/>
            <a:ext cx="300513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Faturamento mensal do salão-alvo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96640" y="2106216"/>
            <a:ext cx="30051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Bef>
                <a:spcPts val="203"/>
              </a:spcBef>
              <a:buNone/>
            </a:pPr>
            <a:r>
              <a:rPr lang="en-US" sz="600" i="1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3–5 profissionais · GG Contabilidade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228951" y="1901726"/>
            <a:ext cx="6810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R$ 30.000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5775" y="2338946"/>
            <a:ext cx="4124325" cy="552450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787189" y="2453060"/>
            <a:ext cx="1809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6305" y="2505968"/>
            <a:ext cx="29908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Faltas e horários vagos no setor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96305" y="2657549"/>
            <a:ext cx="29908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Bef>
                <a:spcPts val="203"/>
              </a:spcBef>
              <a:buNone/>
            </a:pPr>
            <a:r>
              <a:rPr lang="en-US" sz="600" i="1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Estimativa setorial declarada — 10% da receita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214329" y="2453060"/>
            <a:ext cx="6953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− R$ 3.000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5775" y="3071924"/>
            <a:ext cx="412432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spcBef>
                <a:spcPts val="1418"/>
              </a:spcBef>
              <a:spcAft>
                <a:spcPts val="607"/>
              </a:spcAft>
              <a:buNone/>
            </a:pPr>
            <a:r>
              <a:rPr lang="en-US" sz="500" dirty="0">
                <a:solidFill>
                  <a:srgbClr val="1420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RECEITA RECUPERADA COM A GLOW UPI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785775" y="3254313"/>
            <a:ext cx="4124325" cy="552450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787189" y="3368427"/>
            <a:ext cx="1809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533" y="3421335"/>
            <a:ext cx="31051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Lembretes automáticos reduzem faltas em até 30%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97533" y="3572917"/>
            <a:ext cx="31051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Bef>
                <a:spcPts val="203"/>
              </a:spcBef>
              <a:buNone/>
            </a:pPr>
            <a:r>
              <a:rPr lang="en-US" sz="600" i="1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Sebrae citado por Frizzar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332238" y="3368427"/>
            <a:ext cx="5762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14201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 R$ 900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7189" y="3919761"/>
            <a:ext cx="1809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528" y="3972669"/>
            <a:ext cx="26146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Recompra ativa via histórico, app e e-mail (3–7%)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96528" y="4124251"/>
            <a:ext cx="26146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Bef>
                <a:spcPts val="203"/>
              </a:spcBef>
              <a:buNone/>
            </a:pPr>
            <a:r>
              <a:rPr lang="en-US" sz="600" i="1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Base: 46% mudaram de salão pós-pandemia · Beauty Fair Summit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838315" y="3919761"/>
            <a:ext cx="107156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14201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 R$ 900 a 2.100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5775" y="4446203"/>
            <a:ext cx="4124325" cy="395287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785664" y="4673575"/>
            <a:ext cx="166211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RECUPERÁVEL POR MÊS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99842" y="4567051"/>
            <a:ext cx="170973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R$ 1.800 a R$ 3.000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75932" y="1433364"/>
            <a:ext cx="3219450" cy="2967038"/>
          </a:xfrm>
          <a:prstGeom prst="rect">
            <a:avLst/>
          </a:prstGeom>
          <a:solidFill>
            <a:srgbClr val="14201B"/>
          </a:solidFill>
          <a:ln/>
        </p:spPr>
      </p:sp>
      <p:sp>
        <p:nvSpPr>
          <p:cNvPr id="34" name="Text 32"/>
          <p:cNvSpPr/>
          <p:nvPr/>
        </p:nvSpPr>
        <p:spPr>
          <a:xfrm>
            <a:off x="5559289" y="1993813"/>
            <a:ext cx="285273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spcAft>
                <a:spcPts val="1013"/>
              </a:spcAft>
              <a:buNone/>
            </a:pPr>
            <a:r>
              <a:rPr lang="en-US" sz="5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DECISÃO LÓGICA DO EMPRESÁRIO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5559289" y="2228701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 paga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9289" y="2454176"/>
            <a:ext cx="2852738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spcAft>
                <a:spcPts val="324"/>
              </a:spcAft>
              <a:buNone/>
            </a:pPr>
            <a:r>
              <a:rPr lang="en-US" sz="25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R$ 164,</a:t>
            </a:r>
            <a:pPr algn="l" indent="0" marL="0">
              <a:lnSpc>
                <a:spcPts val="1584"/>
              </a:lnSpc>
              <a:buNone/>
            </a:pPr>
            <a:r>
              <a:rPr lang="en-US" sz="15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5559289" y="2824981"/>
            <a:ext cx="28527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1620"/>
              </a:spcAft>
              <a:buNone/>
            </a:pPr>
            <a:r>
              <a:rPr lang="en-US" sz="600" dirty="0">
                <a:solidFill>
                  <a:srgbClr val="EFE9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pela mensalidade da Glow Upi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559289" y="3160514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 recupera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9289" y="3384724"/>
            <a:ext cx="2852738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486"/>
              </a:spcAft>
              <a:buNone/>
            </a:pPr>
            <a:r>
              <a:rPr lang="en-US" sz="21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11× a 18×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5559289" y="3721819"/>
            <a:ext cx="2852738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esse valor todo mês — em receita que hoje simplesmente evapora.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375932" y="4501269"/>
            <a:ext cx="3219450" cy="547687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42" name="Text 40"/>
          <p:cNvSpPr/>
          <p:nvPr/>
        </p:nvSpPr>
        <p:spPr>
          <a:xfrm>
            <a:off x="5540239" y="4594138"/>
            <a:ext cx="2909888" cy="1000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8"/>
              </a:lnSpc>
              <a:spcAft>
                <a:spcPts val="243"/>
              </a:spcAft>
              <a:buNone/>
            </a:pPr>
            <a:r>
              <a:rPr lang="en-US" sz="5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É NO-SHOW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5540239" y="4723209"/>
            <a:ext cx="29098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Termo do setor para o cliente que agenda e não comparece sem avisar — horário reservado, outro cliente recusado, ninguém pagou por esse horário.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47688" y="5175982"/>
            <a:ext cx="8048625" cy="190500"/>
          </a:xfrm>
          <a:prstGeom prst="rect">
            <a:avLst/>
          </a:prstGeom>
          <a:ln/>
        </p:spPr>
      </p:sp>
      <p:sp>
        <p:nvSpPr>
          <p:cNvPr id="45" name="Text 43"/>
          <p:cNvSpPr/>
          <p:nvPr/>
        </p:nvSpPr>
        <p:spPr>
          <a:xfrm>
            <a:off x="548767" y="5254414"/>
            <a:ext cx="1071563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5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FONTES DO CÁLCULO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956646" y="5252442"/>
            <a:ext cx="36385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500" dirty="0">
                <a:solidFill>
                  <a:srgbClr val="1B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ggcontabilidade.com · blog.trinks.com · sebrae.com.br · barbeiro.app · negociosdebeleza.beautyfair.com.br</a:t>
            </a:r>
            <a:endParaRPr lang="en-US" sz="5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75" y="1901317"/>
            <a:ext cx="4124325" cy="438150"/>
          </a:xfrm>
          <a:prstGeom prst="rect">
            <a:avLst/>
          </a:prstGeom>
        </p:spPr>
      </p:pic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75" y="2338946"/>
            <a:ext cx="4124325" cy="552450"/>
          </a:xfrm>
          <a:prstGeom prst="rect">
            <a:avLst/>
          </a:prstGeom>
        </p:spPr>
      </p:pic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775" y="3254313"/>
            <a:ext cx="4124325" cy="552450"/>
          </a:xfrm>
          <a:prstGeom prst="rect">
            <a:avLst/>
          </a:prstGeom>
        </p:spPr>
      </p:pic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775" y="4446203"/>
            <a:ext cx="4124325" cy="395287"/>
          </a:xfrm>
          <a:prstGeom prst="rect">
            <a:avLst/>
          </a:prstGeom>
        </p:spPr>
      </p:pic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75932" y="4501269"/>
            <a:ext cx="3219450" cy="547687"/>
          </a:xfrm>
          <a:prstGeom prst="rect">
            <a:avLst/>
          </a:prstGeom>
        </p:spPr>
      </p:pic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688" y="5175982"/>
            <a:ext cx="80486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18" y="410691"/>
            <a:ext cx="3009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013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 GLOW UPI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18" y="689893"/>
            <a:ext cx="3009900" cy="790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spcAft>
                <a:spcPts val="1418"/>
              </a:spcAft>
              <a:buNone/>
            </a:pPr>
            <a:r>
              <a:rPr lang="en-US" sz="3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 sistema. </a:t>
            </a:r>
            <a:pPr algn="l" indent="0" marL="0">
              <a:lnSpc>
                <a:spcPts val="3105"/>
              </a:lnSpc>
              <a:buNone/>
            </a:pPr>
            <a:r>
              <a:rPr lang="en-US" sz="31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Toda a operação.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18" y="1658875"/>
            <a:ext cx="3009900" cy="881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SaaS multi-inquilino — cada estabelecimento opera em ambiente isolado, com dados próprios, identidade visual própria e sua base de clientes protegida. A escala é técnica: novos clientes não exigem novo desenvolvimento.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18" y="4037186"/>
            <a:ext cx="3009900" cy="695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548618" y="4170499"/>
            <a:ext cx="30099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ESTADO ATUAL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18" y="4359064"/>
            <a:ext cx="30099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produção.</a:t>
            </a:r>
            <a:pPr algn="l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Pronto para escalar.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18" y="4594436"/>
            <a:ext cx="30099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24"/>
              </a:spcBef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SaaS · Software como Serviço (assinatura mensal recorrente)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014936" y="1387599"/>
            <a:ext cx="2190750" cy="623888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4152751" y="1388529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Agenda inteligente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52751" y="1596368"/>
            <a:ext cx="2052637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Confirmações e lembretes automáticos por WhatsApp e e-mail. Reduz falta e dobra ocupação.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5376" y="1387599"/>
            <a:ext cx="2190750" cy="62388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6543191" y="1388529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Ficha digital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43191" y="1596368"/>
            <a:ext cx="2052637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Histórico completo de cada cliente, anamnese, fotos de antes e depois, alergias e preferências.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014936" y="2190713"/>
            <a:ext cx="2190750" cy="762000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4152751" y="2191531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 instalável (PWA)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52751" y="2399481"/>
            <a:ext cx="2052637" cy="552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Painel e área do cliente instaláveis no celular como aplicativo, com notificações push. Versão nativa iOS/Android no roadmap pós-aporte.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5376" y="2190713"/>
            <a:ext cx="2190750" cy="7620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6543191" y="2191531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Pagamentos integrados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43191" y="2399258"/>
            <a:ext cx="205263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Cobrança recorrente via Stripe com gestão de inadimplência embutida no painel.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014936" y="3131939"/>
            <a:ext cx="2190750" cy="623888"/>
          </a:xfrm>
          <a:prstGeom prst="rect">
            <a:avLst/>
          </a:prstGeom>
          <a:ln/>
        </p:spPr>
      </p:sp>
      <p:sp>
        <p:nvSpPr>
          <p:cNvPr id="24" name="Text 22"/>
          <p:cNvSpPr/>
          <p:nvPr/>
        </p:nvSpPr>
        <p:spPr>
          <a:xfrm>
            <a:off x="4152751" y="3132869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E-mail marketing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52751" y="3340708"/>
            <a:ext cx="2052637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Campanhas nativas, segmentação por histórico, reativação de clientes inativos sem ferramenta externa.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05376" y="3131939"/>
            <a:ext cx="2190750" cy="623888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6543191" y="3132869"/>
            <a:ext cx="20526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Painel financeiro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43191" y="3340708"/>
            <a:ext cx="2052637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Bef>
                <a:spcPts val="243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Comissões automáticas, fluxo de caixa, relatório por serviço e por profissional. Decisão baseada em dado.</a:t>
            </a:r>
            <a:endParaRPr lang="en-US" sz="7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18" y="4037186"/>
            <a:ext cx="3009900" cy="695325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4936" y="1387599"/>
            <a:ext cx="2190750" cy="623888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376" y="1387599"/>
            <a:ext cx="2190750" cy="623888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4936" y="2190713"/>
            <a:ext cx="2190750" cy="762000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376" y="2190713"/>
            <a:ext cx="2190750" cy="762000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4936" y="3131939"/>
            <a:ext cx="2190750" cy="623888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5376" y="3131939"/>
            <a:ext cx="2190750" cy="62388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904745" y="30811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37" name="Text 28"/>
          <p:cNvSpPr/>
          <p:nvPr/>
        </p:nvSpPr>
        <p:spPr>
          <a:xfrm>
            <a:off x="8133606" y="308111"/>
            <a:ext cx="4619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8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048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9084" y="3830129"/>
            <a:ext cx="26812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PRAÇA DE OPERAÇÃO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229084" y="4045037"/>
            <a:ext cx="26812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7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Teresina </a:t>
            </a:r>
            <a:pPr algn="l" indent="0" marL="0">
              <a:lnSpc>
                <a:spcPts val="1728"/>
              </a:lnSpc>
              <a:buNone/>
            </a:pPr>
            <a:r>
              <a:rPr lang="en-US" sz="17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 Timon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29084" y="4289785"/>
            <a:ext cx="26812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spcBef>
                <a:spcPts val="203"/>
              </a:spcBef>
              <a:buNone/>
            </a:pPr>
            <a:r>
              <a:rPr lang="en-US" sz="600" dirty="0">
                <a:solidFill>
                  <a:srgbClr val="EEE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Conurbação Piauí · Maranhão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229084" y="4490777"/>
            <a:ext cx="2681288" cy="395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607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1,09 milhão de habitantes (IBGE 2025) e cerca de</a:t>
            </a:r>
            <a:pPr algn="l" indent="0" marL="0">
              <a:lnSpc>
                <a:spcPts val="1040"/>
              </a:lnSpc>
              <a:spcBef>
                <a:spcPts val="607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ts val="104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5.200 estabelecimentos</a:t>
            </a:r>
            <a:pPr algn="l" indent="0" marL="0">
              <a:lnSpc>
                <a:spcPts val="1040"/>
              </a:lnSpc>
              <a:spcBef>
                <a:spcPts val="607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ts val="1040"/>
              </a:lnSpc>
              <a:spcBef>
                <a:spcPts val="607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formais nos CNAEs 9602-5/01 e 02. Mercado total dimensionado em detalhe na página seguinte.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3504381" y="359271"/>
            <a:ext cx="30956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· MERCADO, MARGEM E VOCABULÁRIO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8220931" y="366378"/>
            <a:ext cx="4667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10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505200" y="639291"/>
            <a:ext cx="5181600" cy="695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Mercado verificável. </a:t>
            </a:r>
            <a:pPr algn="l" indent="0" marL="0">
              <a:lnSpc>
                <a:spcPts val="2736"/>
              </a:lnSpc>
              <a:buNone/>
            </a:pPr>
            <a:r>
              <a:rPr lang="en-US" sz="27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Margem de software.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3505349" y="1869058"/>
            <a:ext cx="1604963" cy="1266825"/>
          </a:xfrm>
          <a:prstGeom prst="rect">
            <a:avLst/>
          </a:prstGeom>
          <a:ln/>
        </p:spPr>
      </p:sp>
      <p:sp>
        <p:nvSpPr>
          <p:cNvPr id="13" name="Text 9"/>
          <p:cNvSpPr/>
          <p:nvPr/>
        </p:nvSpPr>
        <p:spPr>
          <a:xfrm>
            <a:off x="3505349" y="1980493"/>
            <a:ext cx="1604963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7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5.200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05349" y="2315319"/>
            <a:ext cx="16049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 TERESINA + TIMON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3505349" y="2507717"/>
            <a:ext cx="1604963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Estabelecimentos formais na praça. Detalhamento TAM/SAM/SOM e fontes na página 05. TAM: Total Addressable Market (Mercado Total Endereçável).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5293482" y="1869058"/>
            <a:ext cx="1604963" cy="1266825"/>
          </a:xfrm>
          <a:prstGeom prst="rect">
            <a:avLst/>
          </a:prstGeom>
          <a:ln/>
        </p:spPr>
      </p:sp>
      <p:sp>
        <p:nvSpPr>
          <p:cNvPr id="17" name="Text 13"/>
          <p:cNvSpPr/>
          <p:nvPr/>
        </p:nvSpPr>
        <p:spPr>
          <a:xfrm>
            <a:off x="5293482" y="1980493"/>
            <a:ext cx="1604963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7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R$ 164</a:t>
            </a:r>
            <a:pPr algn="l" indent="0" marL="0">
              <a:lnSpc>
                <a:spcPts val="108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,50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293482" y="2315319"/>
            <a:ext cx="16049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ARPA — PLANO REFERÊNCIA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293482" y="2508238"/>
            <a:ext cx="160496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Revenue Per Account — receita média mensal por cliente ativo no plano "6 a 15 Profissionais".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7081614" y="1869058"/>
            <a:ext cx="1604963" cy="1266825"/>
          </a:xfrm>
          <a:prstGeom prst="rect">
            <a:avLst/>
          </a:prstGeom>
          <a:ln/>
        </p:spPr>
      </p:sp>
      <p:sp>
        <p:nvSpPr>
          <p:cNvPr id="21" name="Text 17"/>
          <p:cNvSpPr/>
          <p:nvPr/>
        </p:nvSpPr>
        <p:spPr>
          <a:xfrm>
            <a:off x="7081614" y="1980493"/>
            <a:ext cx="1604963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7"/>
              </a:spcAft>
              <a:buNone/>
            </a:pPr>
            <a:r>
              <a:rPr lang="en-US" sz="2000" dirty="0">
                <a:solidFill>
                  <a:srgbClr val="2D544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R$ 208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081614" y="2315319"/>
            <a:ext cx="16049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 FIXO / MÊS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7081614" y="2508238"/>
            <a:ext cx="1604963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Replit (US$ 20) + Brevo (R$ 87) + Hostinger (R$ 11). Tudo contratado, tudo verificável.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3505200" y="3669767"/>
            <a:ext cx="5181600" cy="11144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1"/>
          <p:cNvSpPr/>
          <p:nvPr/>
        </p:nvSpPr>
        <p:spPr>
          <a:xfrm>
            <a:off x="3724275" y="3825925"/>
            <a:ext cx="47434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810"/>
              </a:spcAft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GLOSSÁRIO DAS SIGLAS USADAS NESTE DOCUMENTO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724461" y="4043660"/>
            <a:ext cx="225742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MRR</a:t>
            </a:r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Monthly Recurring Revenue — receita recorrente mensal.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6210114" y="4043660"/>
            <a:ext cx="225742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</a:t>
            </a:r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Annual Recurring Revenue — receita recorrente anual (MRR × 12).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3724461" y="4377258"/>
            <a:ext cx="225742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CAC</a:t>
            </a:r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Custo de Aquisição de Cliente.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210114" y="4377258"/>
            <a:ext cx="225742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LTV</a:t>
            </a:r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Lifetime Value — receita total esperada por cliente.</a:t>
            </a:r>
            <a:endParaRPr lang="en-US" sz="7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5349" y="1869058"/>
            <a:ext cx="1604963" cy="1266825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3482" y="1869058"/>
            <a:ext cx="1604963" cy="1266825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81614" y="1869058"/>
            <a:ext cx="1604963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63"/>
          </a:xfrm>
          <a:prstGeom prst="rect">
            <a:avLst/>
          </a:prstGeom>
          <a:solidFill>
            <a:srgbClr val="C3A56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394" y="257733"/>
            <a:ext cx="27384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· DIMENSIONAMENTO DO MERCADO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132490" y="260114"/>
            <a:ext cx="4619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7688" y="554310"/>
            <a:ext cx="80486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TAM, SAM e SOM. </a:t>
            </a:r>
            <a:pPr algn="l" indent="0" marL="0">
              <a:lnSpc>
                <a:spcPts val="2570"/>
              </a:lnSpc>
              <a:buNone/>
            </a:pPr>
            <a:r>
              <a:rPr lang="en-US" sz="24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 fonte primária.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7613" y="983940"/>
            <a:ext cx="62198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1620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universo endereçável da Glow Upi é a praça conurbada</a:t>
            </a:r>
            <a:pPr algn="l" indent="0" marL="0">
              <a:lnSpc>
                <a:spcPts val="1040"/>
              </a:lnSpc>
              <a:spcAft>
                <a:spcPts val="1620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ts val="104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Teresina + Timon</a:t>
            </a:r>
            <a:pPr algn="l" indent="0" marL="0">
              <a:lnSpc>
                <a:spcPts val="1040"/>
              </a:lnSpc>
              <a:spcAft>
                <a:spcPts val="1620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separada apenas pelo Rio Parnaíba.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990" y="1323417"/>
            <a:ext cx="257175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13296" y="1477342"/>
            <a:ext cx="22431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 · OFERTANTE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713296" y="1684511"/>
            <a:ext cx="224313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spcAft>
                <a:spcPts val="405"/>
              </a:spcAft>
              <a:buNone/>
            </a:pPr>
            <a:r>
              <a:rPr lang="en-US" sz="24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5.200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96" y="2045977"/>
            <a:ext cx="22431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spcAft>
                <a:spcPts val="1013"/>
              </a:spcAft>
              <a:buNone/>
            </a:pPr>
            <a:r>
              <a:rPr lang="en-US" sz="600" dirty="0">
                <a:solidFill>
                  <a:srgbClr val="EFE9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estabelecimentos formais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13296" y="2442418"/>
            <a:ext cx="2243138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1140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CNPJs ativos nos CNAEs 9602-5/01 e 9602-5/02 em Teresina (~4.700) e Timon (~500).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86088" y="1323417"/>
            <a:ext cx="2571750" cy="152400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4" name="Text 12"/>
          <p:cNvSpPr/>
          <p:nvPr/>
        </p:nvSpPr>
        <p:spPr>
          <a:xfrm>
            <a:off x="3450394" y="1477342"/>
            <a:ext cx="22431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 · QUALIFICADO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450394" y="1684511"/>
            <a:ext cx="224313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spcAft>
                <a:spcPts val="405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2.100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50394" y="2045977"/>
            <a:ext cx="22431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spcAft>
                <a:spcPts val="1013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~40% do TAM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450394" y="2442418"/>
            <a:ext cx="2243138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1140"/>
              </a:spcBef>
              <a:buNone/>
            </a:pPr>
            <a:r>
              <a:rPr lang="en-US" sz="7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Estabelecimentos com 3 a 5 profissionais e capacidade real de pagar mensalidade SaaS.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23186" y="1323417"/>
            <a:ext cx="2571750" cy="1524000"/>
          </a:xfrm>
          <a:prstGeom prst="rect">
            <a:avLst/>
          </a:prstGeom>
          <a:solidFill>
            <a:srgbClr val="F8F7F4"/>
          </a:solidFill>
          <a:ln w="9525">
            <a:solidFill>
              <a:srgbClr val="C4A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7017" y="1486867"/>
            <a:ext cx="222408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 · ALCANÇÁVEL 5 ANOS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197017" y="1694036"/>
            <a:ext cx="222408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spcAft>
                <a:spcPts val="405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525 a 630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97017" y="2055502"/>
            <a:ext cx="22240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spcAft>
                <a:spcPts val="1013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~10–12% do TAM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197017" y="2308138"/>
            <a:ext cx="222408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Captáveis em 5 anos por Meta Ads e indicação, descontada a concorrência (Avec, AppBeleza, MinhaAgenda).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7688" y="3001975"/>
            <a:ext cx="8048625" cy="366712"/>
          </a:xfrm>
          <a:prstGeom prst="rect">
            <a:avLst/>
          </a:prstGeom>
          <a:ln/>
        </p:spPr>
      </p:sp>
      <p:sp>
        <p:nvSpPr>
          <p:cNvPr id="24" name="Text 22"/>
          <p:cNvSpPr/>
          <p:nvPr/>
        </p:nvSpPr>
        <p:spPr>
          <a:xfrm>
            <a:off x="549548" y="3135548"/>
            <a:ext cx="29718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5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FINANCEIRO DO ESTABELECIMENTO ALVO (SAM)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659312" y="3121000"/>
            <a:ext cx="107156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00" i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Salão de 3 a 5 profissionais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89365" y="3109764"/>
            <a:ext cx="13287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R$ 25k a R$ 50k</a:t>
            </a:r>
            <a:pPr algn="l" indent="0" marL="0">
              <a:lnSpc>
                <a:spcPts val="684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/mês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8999" y="3154375"/>
            <a:ext cx="1185863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500" i="1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fonte: GG Contabilidade · blog Trinks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549548" y="3548955"/>
            <a:ext cx="3838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810"/>
              </a:spcAft>
              <a:buNone/>
            </a:pPr>
            <a:r>
              <a:rPr lang="en-US" sz="6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DEMOGRAFIA DA PRAÇA · IBGE 2025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47613" y="3786820"/>
            <a:ext cx="5619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Teresina (PI)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730972" y="3767212"/>
            <a:ext cx="6572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905.692 hab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7576" y="4035363"/>
            <a:ext cx="5191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Timon (MA)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94782" y="4015755"/>
            <a:ext cx="5953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182.711 hab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9548" y="4264558"/>
            <a:ext cx="3838575" cy="247650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549585" y="4354376"/>
            <a:ext cx="5619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Conurbação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65550" y="4321225"/>
            <a:ext cx="82391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1.088.403 hab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5840" y="3548955"/>
            <a:ext cx="38385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spcAft>
                <a:spcPts val="810"/>
              </a:spcAft>
              <a:buNone/>
            </a:pPr>
            <a:r>
              <a:rPr lang="en-US" sz="6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PREMISSAS DO RECORTE SAM · SOM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5840" y="3767510"/>
            <a:ext cx="383857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35–40% dos CNPJs têm o dono como único profissional (perfil planilha, baixa conversão para SaaS).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5840" y="4083323"/>
            <a:ext cx="383857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spcAft>
                <a:spcPts val="607"/>
              </a:spcAft>
              <a:buNone/>
            </a:pPr>
            <a:r>
              <a:rPr lang="en-US" sz="6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15–20% já usam algum software — concorrência direta verificada: Avec (SP), AppBeleza (SC), MinhaAgenda.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5840" y="4398987"/>
            <a:ext cx="3838575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1919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~10% têm faturamento abaixo do mínimo viável.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47688" y="4704345"/>
            <a:ext cx="8048625" cy="180975"/>
          </a:xfrm>
          <a:prstGeom prst="rect">
            <a:avLst/>
          </a:prstGeom>
          <a:ln/>
        </p:spPr>
      </p:sp>
      <p:sp>
        <p:nvSpPr>
          <p:cNvPr id="41" name="Text 39"/>
          <p:cNvSpPr/>
          <p:nvPr/>
        </p:nvSpPr>
        <p:spPr>
          <a:xfrm>
            <a:off x="548990" y="4775634"/>
            <a:ext cx="976312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5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FONTES PRIMÁRIAS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5962241" y="4770909"/>
            <a:ext cx="263366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IBGE Cidades · Econodata / Receita Federal · IBGE Concla · Sebrae Nacional</a:t>
            </a:r>
            <a:endParaRPr lang="en-US" sz="6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3001975"/>
            <a:ext cx="8048625" cy="36671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548" y="4264558"/>
            <a:ext cx="3838575" cy="247650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704345"/>
            <a:ext cx="80486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549473" y="257733"/>
            <a:ext cx="33766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· ONDE ESTAMOS · HONESTIDADE OFENSIVA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128136" y="260114"/>
            <a:ext cx="4667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7688" y="554310"/>
            <a:ext cx="80486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</a:t>
            </a:r>
            <a:pPr algn="l" indent="0" marL="0">
              <a:lnSpc>
                <a:spcPts val="2570"/>
              </a:lnSpc>
              <a:buNone/>
            </a:pPr>
            <a:r>
              <a:rPr lang="en-US" sz="24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já está validado</a:t>
            </a:r>
            <a:pPr algn="l" indent="0" marL="0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 o que o aporte vai descobrir.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9511" y="983940"/>
            <a:ext cx="658177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1418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Métricas reais de SaaS — CAC, conversão, retenção — só existem com operação de aquisição rodando. Esse é exatamente o objetivo dos R$ 19.700.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7650" y="1296814"/>
            <a:ext cx="3933825" cy="3024188"/>
          </a:xfrm>
          <a:prstGeom prst="rect">
            <a:avLst/>
          </a:prstGeom>
          <a:solidFill>
            <a:srgbClr val="14201B"/>
          </a:solidFill>
          <a:ln/>
        </p:spPr>
      </p:sp>
      <p:sp>
        <p:nvSpPr>
          <p:cNvPr id="8" name="Shape 6"/>
          <p:cNvSpPr/>
          <p:nvPr/>
        </p:nvSpPr>
        <p:spPr>
          <a:xfrm>
            <a:off x="750168" y="1489621"/>
            <a:ext cx="90488" cy="90488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9" name="Text 7"/>
          <p:cNvSpPr/>
          <p:nvPr/>
        </p:nvSpPr>
        <p:spPr>
          <a:xfrm>
            <a:off x="913767" y="1477714"/>
            <a:ext cx="19573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JÁ VALIDADO · BASE DO NEGÓCIO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750057" y="1747838"/>
            <a:ext cx="35290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Produto em produção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0057" y="1916757"/>
            <a:ext cx="35290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SaaS multi-inquilino rodando hoje em Replit. Painel web responsivo e PWA instalável no celular. App nativo iOS/Android no roadmap pós-aporte.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750057" y="2302297"/>
            <a:ext cx="3529013" cy="514350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750057" y="2409825"/>
            <a:ext cx="35290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Infraestrutura quitada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0057" y="2578745"/>
            <a:ext cx="35290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R$ 208/mês em custo fixo (Replit US$ 20 + Brevo R$ 87 + Hostinger R$ 11). Tudo contratado e verificável.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750057" y="2964284"/>
            <a:ext cx="3529013" cy="514350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750057" y="3071813"/>
            <a:ext cx="35290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TAM com fonte primária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0057" y="3240732"/>
            <a:ext cx="35290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5.200 estabelecimentos formais em Teresina+Timon, auditáveis via Receita Federal/Econodata e IBGE.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750057" y="3626272"/>
            <a:ext cx="3529013" cy="514350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750057" y="3733800"/>
            <a:ext cx="35290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Concorrência mapeada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0057" y="3902720"/>
            <a:ext cx="35290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Concorrência mapeada e verificada na web: Avec (negocios.avec.app), AppBeleza (appbeleza.com.br) e MinhaAgenda (minhaagendaapp.com.br).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62488" y="1296814"/>
            <a:ext cx="3933825" cy="3024188"/>
          </a:xfrm>
          <a:prstGeom prst="rect">
            <a:avLst/>
          </a:prstGeom>
          <a:solidFill>
            <a:srgbClr val="EFEAE0"/>
          </a:solidFill>
          <a:ln w="9525">
            <a:solidFill>
              <a:srgbClr val="C3A66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4493" y="1499146"/>
            <a:ext cx="90488" cy="90488"/>
          </a:xfrm>
          <a:prstGeom prst="ellipse">
            <a:avLst/>
          </a:prstGeom>
          <a:solidFill>
            <a:srgbClr val="2D5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38055" y="1487239"/>
            <a:ext cx="263366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AINDA EM DESCOBERTA · META DOS 6 MESES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74419" y="1757362"/>
            <a:ext cx="35099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CAC real (Custo de Aquisição)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4419" y="1926282"/>
            <a:ext cx="350996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Ads ainda não rodou em escala. Aporte de R$ 6.400 em mídia visa medir o custo real por cliente pagante na praça.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874419" y="2305496"/>
            <a:ext cx="3509963" cy="514350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874419" y="2413025"/>
            <a:ext cx="35099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Conversão do funil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4419" y="2581945"/>
            <a:ext cx="350996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visitas pagas em volume, não temos taxa real de visitante → trial → pagante. Os primeiros 30 a 50 clientes resolvem isso.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874419" y="2961159"/>
            <a:ext cx="3509963" cy="514350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4874419" y="3068687"/>
            <a:ext cx="35099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Retenção e churn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4419" y="3237607"/>
            <a:ext cx="350996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coorte de pagantes ativa há 12 meses, churn ainda é estimativa. Dado real só após 6 meses de operação contínua.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874419" y="3616821"/>
            <a:ext cx="3509963" cy="514350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4874419" y="3724349"/>
            <a:ext cx="35099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62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LTV verificado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4419" y="3893269"/>
            <a:ext cx="350996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Lifetime Value depende de churn e ARPA observados. Será recalculado a cada trimestre com dados próprios.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47688" y="4448994"/>
            <a:ext cx="8048625" cy="438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044" y="4541862"/>
            <a:ext cx="7681912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POSICIONAMENTO HONESTO</a:t>
            </a:r>
            <a:pPr algn="l" indent="0" marL="0">
              <a:lnSpc>
                <a:spcPts val="99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aporte de R$ 19.700 é capital de descoberta, não de escala. Existe para transformar premissas em métricas auditáveis nos próximos 6 meses — e destravar a próxima rodada com dados próprios.</a:t>
            </a:r>
            <a:endParaRPr lang="en-US" sz="6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057" y="2302297"/>
            <a:ext cx="3529013" cy="514350"/>
          </a:xfrm>
          <a:prstGeom prst="rect">
            <a:avLst/>
          </a:prstGeom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57" y="2964284"/>
            <a:ext cx="3529013" cy="514350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057" y="3626272"/>
            <a:ext cx="3529013" cy="514350"/>
          </a:xfrm>
          <a:prstGeom prst="rect">
            <a:avLst/>
          </a:prstGeom>
        </p:spPr>
      </p:pic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4419" y="2305496"/>
            <a:ext cx="3509963" cy="514350"/>
          </a:xfrm>
          <a:prstGeom prst="rect">
            <a:avLst/>
          </a:prstGeom>
        </p:spPr>
      </p:pic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4419" y="2961159"/>
            <a:ext cx="3509963" cy="514350"/>
          </a:xfrm>
          <a:prstGeom prst="rect">
            <a:avLst/>
          </a:prstGeom>
        </p:spPr>
      </p:pic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74419" y="3616821"/>
            <a:ext cx="3509963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7909359" y="30811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4" name="Text 2"/>
          <p:cNvSpPr/>
          <p:nvPr/>
        </p:nvSpPr>
        <p:spPr>
          <a:xfrm>
            <a:off x="8138294" y="308111"/>
            <a:ext cx="457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044" y="293712"/>
            <a:ext cx="76819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013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PRÓPRIO JÁ APLICADO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490" y="574104"/>
            <a:ext cx="7315200" cy="823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6"/>
              </a:lnSpc>
              <a:spcAft>
                <a:spcPts val="2025"/>
              </a:spcAft>
              <a:buNone/>
            </a:pPr>
            <a:r>
              <a:rPr lang="en-US" sz="3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Antes de pedir, eu já apliquei </a:t>
            </a:r>
            <a:pPr algn="l" indent="0" marL="0">
              <a:lnSpc>
                <a:spcPts val="3246"/>
              </a:lnSpc>
              <a:buNone/>
            </a:pPr>
            <a:r>
              <a:rPr lang="en-US" sz="33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R$ 30.428</a:t>
            </a:r>
            <a:pPr algn="l" indent="0" marL="0">
              <a:lnSpc>
                <a:spcPts val="3246"/>
              </a:lnSpc>
              <a:spcAft>
                <a:spcPts val="2025"/>
              </a:spcAft>
              <a:buNone/>
            </a:pPr>
            <a:r>
              <a:rPr lang="en-US" sz="3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em capital e trabalho durante 2 meses.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490" y="1655006"/>
            <a:ext cx="2438400" cy="215265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931515" y="1809117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TANGÍVEL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31515" y="2024881"/>
            <a:ext cx="2038350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R$ 4.828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1515" y="3515432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BOLSO DO FUNDADOR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52763" y="1655006"/>
            <a:ext cx="2438400" cy="21526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52788" y="1809117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TRABALHO APLICADO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52788" y="2024881"/>
            <a:ext cx="2038350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R$ 25.600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552788" y="2419722"/>
            <a:ext cx="2038350" cy="552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meses de desenvolvimento fullstack em tempo integral (160h/mês × R$ 80/h, tarifa de mercado conservadora). Sem pro-labore, custo absorvido pelo fundador.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52788" y="3515432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MESES · SEM PRO-LABORE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74073" y="1655006"/>
            <a:ext cx="2438400" cy="2152650"/>
          </a:xfrm>
          <a:prstGeom prst="rect">
            <a:avLst/>
          </a:prstGeom>
          <a:solidFill>
            <a:srgbClr val="EFEAE0"/>
          </a:solidFill>
          <a:ln w="4763">
            <a:solidFill>
              <a:srgbClr val="C3A66A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8860" y="1813880"/>
            <a:ext cx="20288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CONHECIMENTO APLICADO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78860" y="2028304"/>
            <a:ext cx="2028825" cy="585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Dev + Marketing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78860" y="2717192"/>
            <a:ext cx="2028825" cy="690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Sistema 100% próprio, sem agência ou CTO contratado. Estratégia de aquisição apoiada em repertório de Fórmula de Lançamento (Érico Rocha) — materializada neste deck e no funil planejado.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78860" y="3510669"/>
            <a:ext cx="20288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INTELECTUAL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044" y="4011923"/>
            <a:ext cx="7681912" cy="838200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732458" y="4145868"/>
            <a:ext cx="50577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RAZÃO DE COMPROMETIMENTO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2458" y="4334805"/>
            <a:ext cx="5057775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Aporte solicitado 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R$ 19.700</a:t>
            </a:r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equivale a apenas 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65%</a:t>
            </a:r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do que o fundador já investiu (R$ 30.428 entre capital + trabalho a valor de mercado). Para cada R$ 1 da investidora, R$ 1,55 já foi aplicado.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74035" y="4145868"/>
            <a:ext cx="24384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JÁ APORTADO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74035" y="4308128"/>
            <a:ext cx="24384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6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R$ 30.428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74035" y="4499260"/>
            <a:ext cx="24384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2"/>
              </a:lnSpc>
              <a:spcBef>
                <a:spcPts val="203"/>
              </a:spcBef>
              <a:buNone/>
            </a:pPr>
            <a:r>
              <a:rPr lang="en-US" sz="600" dirty="0">
                <a:solidFill>
                  <a:srgbClr val="1B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+ trabalho · 2 meses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931515" y="2418755"/>
            <a:ext cx="20383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9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US$ 923,45 (R$ 4.611) em ferramentas de desenvolvimento e infraestrutura</a:t>
            </a:r>
            <a:endParaRPr lang="en-US" sz="700" dirty="0"/>
          </a:p>
          <a:p>
            <a:pPr algn="l" indent="0" marL="0">
              <a:lnSpc>
                <a:spcPts val="1089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R$ 130 em hospedagem Hostinger</a:t>
            </a:r>
            <a:endParaRPr lang="en-US" sz="7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R$ 87/mês recorrente em e-mail marketing</a:t>
            </a:r>
            <a:endParaRPr lang="en-US" sz="7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011923"/>
            <a:ext cx="768191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7902215" y="30811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4" name="Text 2"/>
          <p:cNvSpPr/>
          <p:nvPr/>
        </p:nvSpPr>
        <p:spPr>
          <a:xfrm>
            <a:off x="8132341" y="308111"/>
            <a:ext cx="4619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044" y="494258"/>
            <a:ext cx="76819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013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DESTINAÇÃO DO APORTE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490" y="774650"/>
            <a:ext cx="7315200" cy="823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6"/>
              </a:lnSpc>
              <a:spcAft>
                <a:spcPts val="2025"/>
              </a:spcAft>
              <a:buNone/>
            </a:pPr>
            <a:r>
              <a:rPr lang="en-US" sz="3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R$ 19.700 alocados como </a:t>
            </a:r>
            <a:pPr algn="l" indent="0" marL="0">
              <a:lnSpc>
                <a:spcPts val="3246"/>
              </a:lnSpc>
              <a:buNone/>
            </a:pPr>
            <a:r>
              <a:rPr lang="en-US" sz="33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veículo de tração</a:t>
            </a:r>
            <a:pPr algn="l" indent="0" marL="0">
              <a:lnSpc>
                <a:spcPts val="3246"/>
              </a:lnSpc>
              <a:spcAft>
                <a:spcPts val="2025"/>
              </a:spcAft>
              <a:buNone/>
            </a:pPr>
            <a:r>
              <a:rPr lang="en-US" sz="3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— não como custeio.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490" y="1854994"/>
            <a:ext cx="2438400" cy="192405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931515" y="2009663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SANEAMENTO OPERACIONAL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31515" y="2225427"/>
            <a:ext cx="2038350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R$ 2.261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1515" y="2619226"/>
            <a:ext cx="2038350" cy="6048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Quitação da fatura do cartão usada na finalização do sistema em abril — encerramento do capital próprio aplicado na construção do produto.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1515" y="3486262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LIQUIDEZ · IMEDIATO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52763" y="1854994"/>
            <a:ext cx="2438400" cy="1924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2788" y="2009663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AQUISIÇÃO · META ADS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52788" y="2225427"/>
            <a:ext cx="2038350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R$ 9.139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552788" y="2619226"/>
            <a:ext cx="2038350" cy="6048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Campanha de performance segmentada para profissionais e proprietárias de salão em Teresina, com CAC projetado entre R$ 90 e R$ 160.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52788" y="3486262"/>
            <a:ext cx="2038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CRESCIMENTO · 90 DIAS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74073" y="1854994"/>
            <a:ext cx="2438400" cy="1924050"/>
          </a:xfrm>
          <a:prstGeom prst="rect">
            <a:avLst/>
          </a:prstGeom>
          <a:solidFill>
            <a:srgbClr val="EFEAE0"/>
          </a:solidFill>
          <a:ln w="4763">
            <a:solidFill>
              <a:srgbClr val="C3A66A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8860" y="2014426"/>
            <a:ext cx="20288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TRÁFEGO ORGÂNICO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78860" y="2230189"/>
            <a:ext cx="2028825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Aft>
                <a:spcPts val="81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R$ 8.300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178860" y="2625626"/>
            <a:ext cx="2028825" cy="752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Produção de vídeo vertical profissional, conteúdo recorrente, demonstrações do aplicativo e provas sociais reais com clientes — combustível do canal orgânico.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8860" y="3481499"/>
            <a:ext cx="20288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CONTEÚDO · 90 DIAS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31044" y="3982789"/>
            <a:ext cx="7681912" cy="666750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731007" y="4116698"/>
            <a:ext cx="44053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FUNIL DE AQUISIÇÃO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1007" y="4305672"/>
            <a:ext cx="4405313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Anúncio Meta 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isca gratuita 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onboarding 1:1 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assinatura ARPA R$ 164,50.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17741" y="4116698"/>
            <a:ext cx="30956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 FIXO DE OPERAÇÃO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17741" y="4279888"/>
            <a:ext cx="30956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36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R$ 208 / mês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3982789"/>
            <a:ext cx="7681912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7688" y="309153"/>
            <a:ext cx="80486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spcAft>
                <a:spcPts val="729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PROJEÇÃO REALISTA · SOMENTE TERESINA · SEM EXPANSÃO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7613" y="545455"/>
            <a:ext cx="80486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5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cada patamar de clientes representa em receita.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990" y="1054484"/>
            <a:ext cx="2571750" cy="1700213"/>
          </a:xfrm>
          <a:prstGeom prst="rect">
            <a:avLst/>
          </a:prstGeom>
          <a:solidFill>
            <a:srgbClr val="EBEBD8">
              <a:alpha val="5098"/>
            </a:srgbClr>
          </a:solidFill>
          <a:ln w="4763">
            <a:solidFill>
              <a:srgbClr val="F2EBDD">
                <a:alpha val="14902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8058" y="1202643"/>
            <a:ext cx="22336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EFE9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MARCO 01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18058" y="1391506"/>
            <a:ext cx="2233612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729"/>
              </a:spcAft>
              <a:buNone/>
            </a:pPr>
            <a:r>
              <a:rPr lang="en-US" sz="18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200 clientes ativos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18058" y="1721272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R$ 32.900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8058" y="1923604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R$ 394.800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18058" y="2125935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Penetração TAM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4%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18058" y="2354163"/>
            <a:ext cx="2233612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607"/>
              </a:spcBef>
              <a:buNone/>
            </a:pPr>
            <a:r>
              <a:rPr lang="en-US" sz="700" i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Atingível em 18 meses · 11 novos clientes/mês líquidos.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3286088" y="1054484"/>
            <a:ext cx="2571750" cy="1700213"/>
          </a:xfrm>
          <a:prstGeom prst="rect">
            <a:avLst/>
          </a:prstGeom>
          <a:solidFill>
            <a:srgbClr val="C3A16B">
              <a:alpha val="14902"/>
            </a:srgbClr>
          </a:solidFill>
          <a:ln w="4763">
            <a:solidFill>
              <a:srgbClr val="C3A569">
                <a:alpha val="4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01468" y="1121680"/>
            <a:ext cx="842963" cy="138113"/>
          </a:xfrm>
          <a:prstGeom prst="rect">
            <a:avLst/>
          </a:prstGeom>
          <a:solidFill>
            <a:srgbClr val="C4A46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8"/>
              </a:lnSpc>
              <a:buNone/>
            </a:pPr>
            <a:r>
              <a:rPr lang="en-US" sz="500" b="1" dirty="0">
                <a:solidFill>
                  <a:srgbClr val="1420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MARCO-CHAVE</a:t>
            </a:r>
            <a:endParaRPr lang="en-US" sz="500" dirty="0"/>
          </a:p>
        </p:txBody>
      </p:sp>
      <p:sp>
        <p:nvSpPr>
          <p:cNvPr id="15" name="Text 11"/>
          <p:cNvSpPr/>
          <p:nvPr/>
        </p:nvSpPr>
        <p:spPr>
          <a:xfrm>
            <a:off x="3455157" y="1202643"/>
            <a:ext cx="22336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MARCO 02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455157" y="1391506"/>
            <a:ext cx="2233612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729"/>
              </a:spcAft>
              <a:buNone/>
            </a:pPr>
            <a:r>
              <a:rPr lang="en-US" sz="18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500 clientes ativos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55157" y="1721272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R$ 82.250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455157" y="1923604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R$ 987.000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455157" y="2125935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Penetração TAM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10%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455157" y="2354163"/>
            <a:ext cx="2233612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607"/>
              </a:spcBef>
              <a:buNone/>
            </a:pPr>
            <a:r>
              <a:rPr lang="en-US" sz="700" i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Atingível em 36 meses · 14 novos clientes/mês líquidos.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6023186" y="1054484"/>
            <a:ext cx="2571750" cy="1700213"/>
          </a:xfrm>
          <a:prstGeom prst="rect">
            <a:avLst/>
          </a:prstGeom>
          <a:solidFill>
            <a:srgbClr val="EBEBD8">
              <a:alpha val="5098"/>
            </a:srgbClr>
          </a:solidFill>
          <a:ln w="4763">
            <a:solidFill>
              <a:srgbClr val="F2EBDD">
                <a:alpha val="14902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92255" y="1202643"/>
            <a:ext cx="22336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EFE9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HORIZONTE 5 ANOS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192255" y="1391506"/>
            <a:ext cx="2233612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729"/>
              </a:spcAft>
              <a:buNone/>
            </a:pPr>
            <a:r>
              <a:rPr lang="en-US" sz="18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600 clientes Teresina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192255" y="1721272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R$ 98.700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6192255" y="1923604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R$ 1,18M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192255" y="2125935"/>
            <a:ext cx="22336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Penetração TAM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12%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6192255" y="2354163"/>
            <a:ext cx="2233612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607"/>
              </a:spcBef>
              <a:buNone/>
            </a:pPr>
            <a:r>
              <a:rPr lang="en-US" sz="700" i="1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Teto realista sem sair de Teresina. Comparáveis nacionais: Avec (BR), AppBeleza (BR).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547688" y="2910074"/>
            <a:ext cx="8048625" cy="1042988"/>
          </a:xfrm>
          <a:prstGeom prst="rect">
            <a:avLst/>
          </a:prstGeom>
          <a:ln/>
        </p:spPr>
      </p:sp>
      <p:sp>
        <p:nvSpPr>
          <p:cNvPr id="29" name="Text 25"/>
          <p:cNvSpPr/>
          <p:nvPr/>
        </p:nvSpPr>
        <p:spPr>
          <a:xfrm>
            <a:off x="547650" y="3041935"/>
            <a:ext cx="53054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VALUATION NO HORIZONTE 5 ANOS · CENÁRIO BASE TERESINA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547650" y="3230463"/>
            <a:ext cx="530542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500" i="1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ARR R$ 1,18M × múltiplo conservador 5× = </a:t>
            </a:r>
            <a:pPr algn="l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R$ 5,9 milhões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547650" y="3534742"/>
            <a:ext cx="53054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405"/>
              </a:spcBef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Múltiplo abaixo da média de SaaS vertical brasileiro (5–8× ARR conforme relatórios Distrito e Atlas Latam). 50% do equity equivale a R$ 2,95M.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6034088" y="3043424"/>
            <a:ext cx="2562225" cy="909638"/>
          </a:xfrm>
          <a:prstGeom prst="rect">
            <a:avLst/>
          </a:prstGeom>
          <a:solidFill>
            <a:srgbClr val="C3A16B">
              <a:alpha val="14902"/>
            </a:srgbClr>
          </a:solidFill>
          <a:ln w="4763">
            <a:solidFill>
              <a:srgbClr val="C3A66A">
                <a:alpha val="30196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176963" y="3150840"/>
            <a:ext cx="22764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RETORNO SOBRE R$ 19.700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6176963" y="3305733"/>
            <a:ext cx="227647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≈ 150×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176963" y="3594571"/>
            <a:ext cx="227647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Bef>
                <a:spcPts val="405"/>
              </a:spcBef>
              <a:buNone/>
            </a:pPr>
            <a:r>
              <a:rPr lang="en-US" sz="700" i="1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Projeção sem nenhuma cidade nova. Risco real, retorno mensurável.</a:t>
            </a:r>
            <a:endParaRPr lang="en-US" sz="7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2910074"/>
            <a:ext cx="8048625" cy="1042988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7898569" y="30811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38" name="Text 33"/>
          <p:cNvSpPr/>
          <p:nvPr/>
        </p:nvSpPr>
        <p:spPr>
          <a:xfrm>
            <a:off x="8128136" y="308111"/>
            <a:ext cx="4667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EEE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9333" y="1387778"/>
            <a:ext cx="1556385" cy="155638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1" y="360945"/>
            <a:ext cx="638175" cy="638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548" y="1102147"/>
            <a:ext cx="3076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215"/>
              </a:spcAft>
              <a:buNone/>
            </a:pPr>
            <a:r>
              <a:rPr lang="en-US" sz="7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PROPOSTA FORMAL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49548" y="1407021"/>
            <a:ext cx="3076575" cy="790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spcAft>
                <a:spcPts val="1418"/>
              </a:spcAft>
              <a:buNone/>
            </a:pPr>
            <a:r>
              <a:rPr lang="en-US" sz="3100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50% da Glow Upi </a:t>
            </a:r>
            <a:pPr algn="l" indent="0" marL="0">
              <a:lnSpc>
                <a:spcPts val="3105"/>
              </a:lnSpc>
              <a:buNone/>
            </a:pPr>
            <a:r>
              <a:rPr lang="en-US" sz="3100" i="1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por R$ 19.700.</a:t>
            </a:r>
            <a:endParaRPr lang="en-US" sz="3100" dirty="0"/>
          </a:p>
        </p:txBody>
      </p:sp>
      <p:sp>
        <p:nvSpPr>
          <p:cNvPr id="8" name="Text 4"/>
          <p:cNvSpPr/>
          <p:nvPr/>
        </p:nvSpPr>
        <p:spPr>
          <a:xfrm>
            <a:off x="549548" y="2377008"/>
            <a:ext cx="3076575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investidor adquire participação societária formal de metade da empresa, em SaaS já em produção, com infraestrutura quitada e roadmap definido até dezembro de 2026.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9548" y="3454078"/>
            <a:ext cx="3076575" cy="1328738"/>
          </a:xfrm>
          <a:prstGeom prst="rect">
            <a:avLst/>
          </a:prstGeom>
          <a:ln/>
        </p:spPr>
      </p:sp>
      <p:sp>
        <p:nvSpPr>
          <p:cNvPr id="10" name="Text 6"/>
          <p:cNvSpPr/>
          <p:nvPr/>
        </p:nvSpPr>
        <p:spPr>
          <a:xfrm>
            <a:off x="549548" y="3585790"/>
            <a:ext cx="3076575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729"/>
              </a:spcAft>
              <a:buNone/>
            </a:pPr>
            <a:r>
              <a:rPr lang="en-US" sz="700" dirty="0">
                <a:solidFill>
                  <a:srgbClr val="EEE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CRONOGRAMA DE TRAÇÃO — PRIMEIROS 120 DIAS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49548" y="3954363"/>
            <a:ext cx="30765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D+15</a:t>
            </a:r>
            <a:pPr algn="l" indent="0" marL="0">
              <a:lnSpc>
                <a:spcPts val="104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Primeira métrica real de CAC com 5–10 conversões piloto.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9548" y="4218533"/>
            <a:ext cx="307657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D+60</a:t>
            </a:r>
            <a:pPr algn="l" indent="0" marL="0">
              <a:lnSpc>
                <a:spcPts val="104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clientes ativos pagantes — validação de CAC e churn iniciais.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9548" y="4592241"/>
            <a:ext cx="30765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D+120</a:t>
            </a:r>
            <a:pPr algn="l" indent="0" marL="0">
              <a:lnSpc>
                <a:spcPts val="1040"/>
              </a:lnSpc>
              <a:buNone/>
            </a:pPr>
            <a:r>
              <a:rPr lang="en-US" sz="700" dirty="0">
                <a:solidFill>
                  <a:srgbClr val="EFEA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 clientes ativos · MRR R$ 14.000 (cenário base).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357650" y="359271"/>
            <a:ext cx="42386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013"/>
              </a:spcAft>
              <a:buNone/>
            </a:pPr>
            <a:r>
              <a:rPr lang="en-US" sz="700" dirty="0">
                <a:solidFill>
                  <a:srgbClr val="2D5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O INVESTIDOR RECEBE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357650" y="638659"/>
            <a:ext cx="4238625" cy="619125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4359362" y="638659"/>
            <a:ext cx="24288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12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41329" y="639998"/>
            <a:ext cx="38528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Cinquenta por cento de equity formal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41329" y="838126"/>
            <a:ext cx="3852862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social registrado em junta comercial, com governança e regras de saída claras.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357650" y="1370409"/>
            <a:ext cx="4238625" cy="585788"/>
          </a:xfrm>
          <a:prstGeom prst="rect">
            <a:avLst/>
          </a:prstGeom>
          <a:ln/>
        </p:spPr>
      </p:sp>
      <p:sp>
        <p:nvSpPr>
          <p:cNvPr id="20" name="Text 16"/>
          <p:cNvSpPr/>
          <p:nvPr/>
        </p:nvSpPr>
        <p:spPr>
          <a:xfrm>
            <a:off x="4358506" y="1369182"/>
            <a:ext cx="1952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12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90467" y="1370521"/>
            <a:ext cx="39052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Produto em produção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90467" y="1568648"/>
            <a:ext cx="39052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Painel web responsivo instalável como PWA, com agenda, ficha digital, e-mail marketing nativo e cobrança recorrente.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357650" y="2068823"/>
            <a:ext cx="4238625" cy="619125"/>
          </a:xfrm>
          <a:prstGeom prst="rect">
            <a:avLst/>
          </a:prstGeom>
          <a:ln/>
        </p:spPr>
      </p:sp>
      <p:sp>
        <p:nvSpPr>
          <p:cNvPr id="24" name="Text 20"/>
          <p:cNvSpPr/>
          <p:nvPr/>
        </p:nvSpPr>
        <p:spPr>
          <a:xfrm>
            <a:off x="4359139" y="2068823"/>
            <a:ext cx="1905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12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86337" y="2070162"/>
            <a:ext cx="39100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Operação técnica integralmente coberta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686337" y="2268289"/>
            <a:ext cx="3910012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fundador responde pela engenharia, infraestrutura e produto. O sócio conduz estratégia comercial e marketing.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4359101" y="2799345"/>
            <a:ext cx="2333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12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729163" y="2800685"/>
            <a:ext cx="38671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Tração mensurável em 90 dias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29163" y="2998812"/>
            <a:ext cx="38671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R$ 17.439 alocados em tráfego pago e orgânico geram MRR antes do encerramento de 2026.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4357650" y="4212617"/>
            <a:ext cx="4238625" cy="571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7"/>
          <p:cNvSpPr/>
          <p:nvPr/>
        </p:nvSpPr>
        <p:spPr>
          <a:xfrm>
            <a:off x="4542383" y="4342656"/>
            <a:ext cx="2638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C4A4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COMPOSIÇÃO DO APORTE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4542383" y="4497735"/>
            <a:ext cx="26384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00" i="1" dirty="0">
                <a:solidFill>
                  <a:srgbClr val="EFEA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R$ 11.400 em capital · R$ 8.300 em tráfego orgânico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569064" y="4345000"/>
            <a:ext cx="8429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EFE9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7569064" y="4469606"/>
            <a:ext cx="84296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400" dirty="0">
                <a:solidFill>
                  <a:srgbClr val="C4A46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R$ 19.700</a:t>
            </a:r>
            <a:endParaRPr lang="en-US" sz="14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548" y="3454078"/>
            <a:ext cx="3076575" cy="132873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7650" y="638659"/>
            <a:ext cx="4238625" cy="619125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7650" y="1370409"/>
            <a:ext cx="4238625" cy="585788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57650" y="2068823"/>
            <a:ext cx="4238625" cy="61912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919628" y="308111"/>
            <a:ext cx="138113" cy="138113"/>
          </a:xfrm>
          <a:prstGeom prst="ellipse">
            <a:avLst/>
          </a:prstGeom>
          <a:solidFill>
            <a:srgbClr val="C4A46A"/>
          </a:solidFill>
          <a:ln/>
        </p:spPr>
      </p:sp>
      <p:sp>
        <p:nvSpPr>
          <p:cNvPr id="40" name="Text 32"/>
          <p:cNvSpPr/>
          <p:nvPr/>
        </p:nvSpPr>
        <p:spPr>
          <a:xfrm>
            <a:off x="8148191" y="308111"/>
            <a:ext cx="4476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63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2026-04-27T15:06:17Z</dcterms:created>
  <dcterms:modified xsi:type="dcterms:W3CDTF">2026-04-27T15:06:17Z</dcterms:modified>
</cp:coreProperties>
</file>